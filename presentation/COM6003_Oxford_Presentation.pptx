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1695" cy="54864"/>
          </a:xfrm>
          <a:prstGeom prst="rect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Predicting EPC Energy Ratings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9748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0" i="1">
                <a:solidFill>
                  <a:srgbClr val="CADCFC"/>
                </a:solidFill>
                <a:latin typeface="Calibri"/>
              </a:rPr>
              <a:t>for Oxford's domestic 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A leakage-aware ordinal-classification pipeline with SHAP-driven retrofit 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COM6003  •  Buckinghamshire New University  •  2025–26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Author: Parsec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EPCs are the evidence base for retrofit policy and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UK net-zero by 2050 → domestic buildings ≈ 17% of UK emissions (CCC, 2023).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EPC rating drives lender retrofit lending, MEES enforcement, ECO grant routing.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Oxford: 30.4% of dwellings built before 1900 — almost double the England-wide share (ONS, 2023).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761"/>
                </a:solidFill>
                <a:latin typeface="Calibri"/>
              </a:rPr>
              <a:t>•  Question: which physical features drive Oxford's rating, and where should retrofit £ go first?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55448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17%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26771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Domestic share of UK emissions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97180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06324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30.4%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68503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Oxford dwellings built pre-1900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389120"/>
            <a:ext cx="3931920" cy="123444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480560"/>
            <a:ext cx="3657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libri"/>
              </a:rPr>
              <a:t>~5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102352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SAP-point inter-assessor variance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— Oxford EPC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Energy Performance of Buildings Register — Oxford (E07000178)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Source: DLUHC / MHCLG, EPB Register; OGLv3 + restricted Ordnance Survey / Royal Mail address licence.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Raw certificates for Oxford: 76430 rows × 93 columns.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After cleaning + dedup-per-UPRN: 49420 certificates.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Two tables linked by LMK_KEY: certificates (one row per lodgement) + recommendations.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Targets: CURRENT_ENERGY_RATING (ordinal A–G, primary); CURRENT_ENERGY_EFFICIENCY (1–100, secondary).</a:t>
            </a:r>
          </a:p>
        </p:txBody>
      </p:sp>
      <p:pic>
        <p:nvPicPr>
          <p:cNvPr id="6" name="Picture 5" descr="fig_rating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54480"/>
            <a:ext cx="48463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— Oxford EPC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Leakage-aware, reproducible, every step a pure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Typed loader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explicit dtypes, parsed dates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4884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8600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Leakage 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drop SAP-engine outputs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9476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Dedup-per-UPRN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latest EPC per dwelling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7784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Feature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12 engineered features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60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376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ColumnTransformer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fit only on train fold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73252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6968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HistGB regression-to-band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with SAP-cohort routing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0378440" y="2560320"/>
            <a:ext cx="137160" cy="182880"/>
          </a:xfrm>
          <a:prstGeom prst="rightArrow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515600" y="1828800"/>
            <a:ext cx="15087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0" y="1965960"/>
            <a:ext cx="13258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SHAP + calibration + fairness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2606040"/>
            <a:ext cx="13258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4B556B"/>
                </a:solidFill>
                <a:latin typeface="Calibri"/>
              </a:rPr>
              <a:t>audit every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 i="1">
                <a:solidFill>
                  <a:srgbClr val="1E2761"/>
                </a:solidFill>
                <a:latin typeface="Calibri"/>
              </a:rPr>
              <a:t>Train ≤ 2022-12-31  →  Hold-out ≥ 2023-01-01  (temporal split)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— Oxford EPC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The single biggest pitfall — and how we avoided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Leakage audit on the SAP-derivative columns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E2761"/>
                </a:solidFill>
                <a:latin typeface="Calibri"/>
              </a:rPr>
              <a:t>•  The target is *derived* from the SAP/RdSAP calculation — many columns in the CSV are *outputs* of the same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486400" cy="3840480"/>
          </a:xfrm>
          <a:prstGeom prst="roundRect">
            <a:avLst/>
          </a:prstGeom>
          <a:solidFill>
            <a:srgbClr val="FDEBEB"/>
          </a:solidFill>
          <a:ln>
            <a:solidFill>
              <a:srgbClr val="C25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2503A"/>
                </a:solidFill>
                <a:latin typeface="Calibri"/>
              </a:rPr>
              <a:t>DROPPED — would leak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POTENTIAL_ENERGY_RATING / EFFICIENCY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ENVIRONMENTAL_IMPACT_*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ENERGY_CONSUMPTION_*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CO2_EMISSIONS_*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LIGHTING_COST_*, HEATING_COST_*, HOT_WATER_COST_*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Per-element *_ENERGY_EFF stars (kept for diagnostics, not features)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377440"/>
            <a:ext cx="5212080" cy="3840480"/>
          </a:xfrm>
          <a:prstGeom prst="roundRect">
            <a:avLst/>
          </a:prstGeom>
          <a:solidFill>
            <a:srgbClr val="ECF6EE"/>
          </a:solidFill>
          <a:ln>
            <a:solidFill>
              <a:srgbClr val="2C5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2C5F2D"/>
                </a:solidFill>
                <a:latin typeface="Calibri"/>
              </a:rPr>
              <a:t>KEPT — physical reality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PROPERTY_TYPE, BUILT_FORM, CONSTRUCTION_AGE_BAND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WALLS_DESCRIPTION, ROOF_DESCRIPTION, WINDOWS_DESCRIPTION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MAIN_FUEL, MAIN_HEATING_CONTROLS, MAINS_GAS_FLAG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TOTAL_FLOOR_AREA, NUMBER_HABITABLE_ROOMS, …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Engineered: FLAG_CAVITY_INSULATED, FLAG_LOFT_300MM, …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B556B"/>
                </a:solidFill>
                <a:latin typeface="Calibri"/>
              </a:rPr>
              <a:t>•  Dedup-per-UPRN: same dwelling never crosses the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— Oxford EPC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EDA — 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Class imbalance and a clear age-band gradient</a:t>
            </a:r>
          </a:p>
        </p:txBody>
      </p:sp>
      <p:pic>
        <p:nvPicPr>
          <p:cNvPr id="5" name="Picture 4" descr="fig_temporal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577840" cy="2468880"/>
          </a:xfrm>
          <a:prstGeom prst="rect">
            <a:avLst/>
          </a:prstGeom>
        </p:spPr>
      </p:pic>
      <p:pic>
        <p:nvPicPr>
          <p:cNvPr id="6" name="Picture 5" descr="fig_property_built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0"/>
            <a:ext cx="5577840" cy="2286000"/>
          </a:xfrm>
          <a:prstGeom prst="rect">
            <a:avLst/>
          </a:prstGeom>
        </p:spPr>
      </p:pic>
      <p:pic>
        <p:nvPicPr>
          <p:cNvPr id="7" name="Picture 6" descr="fig_rating_by_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554480"/>
            <a:ext cx="5394960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— Oxford EPC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Why?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Walls dominate; age is monotonic; glazing is real but smaller</a:t>
            </a:r>
          </a:p>
        </p:txBody>
      </p:sp>
      <p:pic>
        <p:nvPicPr>
          <p:cNvPr id="5" name="Picture 4" descr="fig_eff_by_w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8580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463040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Test statistics (hold-out)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9659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Spearman ρ — age vs SAP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196596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0.560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51460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Spearman ρ — multi-glaze vs SAP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251460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0.211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06324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Cramér's V — walls vs rating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306324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0.407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61188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Cramér's V — main fuel vs rating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361188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0.327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1605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Cramér's V — age band vs rating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416052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0.372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091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Cramér's V — built form vs rating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4709160"/>
            <a:ext cx="1188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1E2761"/>
                </a:solidFill>
                <a:latin typeface="Calibri"/>
              </a:rPr>
              <a:t>0.095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— Oxford EPC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Quadratic Weighted Kappa — 5-fold GroupKFold (no UPRN leakage)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6459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1" i="0">
                <a:solidFill>
                  <a:srgbClr val="1E2761"/>
                </a:solidFill>
                <a:latin typeface="Calibri"/>
              </a:rPr>
              <a:t>QWK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64592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± std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109728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Logistic regression (full)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2402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0" i="0">
                <a:solidFill>
                  <a:srgbClr val="1E2761"/>
                </a:solidFill>
                <a:latin typeface="Calibri"/>
              </a:rPr>
              <a:t>0.40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2402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Random Forest (group split)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7432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0" i="0">
                <a:solidFill>
                  <a:srgbClr val="1E2761"/>
                </a:solidFill>
                <a:latin typeface="Calibri"/>
              </a:rPr>
              <a:t>0.840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74320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± 0.003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461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HistGB classifier (group)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24612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0" i="0">
                <a:solidFill>
                  <a:srgbClr val="1E2761"/>
                </a:solidFill>
                <a:latin typeface="Calibri"/>
              </a:rPr>
              <a:t>0.840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324612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± 0.002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490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LightGBM + expected-value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7490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1" i="0">
                <a:solidFill>
                  <a:srgbClr val="1E2761"/>
                </a:solidFill>
                <a:latin typeface="Calibri"/>
              </a:rPr>
              <a:t>0.867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37490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± 0.005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519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Regression-to-band (champion)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2519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0" i="0">
                <a:solidFill>
                  <a:srgbClr val="1E2761"/>
                </a:solidFill>
                <a:latin typeface="Calibri"/>
              </a:rPr>
              <a:t>0.863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42519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5488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Ensemble (RF+HGB+LGBM mean proba)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548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400" b="0" i="0">
                <a:solidFill>
                  <a:srgbClr val="1E2761"/>
                </a:solidFill>
                <a:latin typeface="Calibri"/>
              </a:rPr>
              <a:t>0.860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47548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— Oxford EPC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Champion: SapStratifiedRegressor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Regression on SAP score + SAP-cohort specialist; evaluated once on inspections from 2023+. Multi-seed: 0.7714 ± 0.0019 across seeds 42/123/2026.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0.7696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Quadratic Weighted Kappa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0.578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Balanced 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0.561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Macro-F1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1554480"/>
            <a:ext cx="2606040" cy="1097280"/>
          </a:xfrm>
          <a:prstGeom prst="roundRect">
            <a:avLst/>
          </a:prstGeom>
          <a:solidFill>
            <a:srgbClr val="F5F7FB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79" y="1627632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4.05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79" y="2194560"/>
            <a:ext cx="2423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B556B"/>
                </a:solidFill>
                <a:latin typeface="Calibri"/>
              </a:rPr>
              <a:t>SAP MAE (vs ~5-pt assessor noise floor) | 97.7% within 15 SAP pts (ONS DSC national: 93%)</a:t>
            </a:r>
          </a:p>
        </p:txBody>
      </p:sp>
      <p:pic>
        <p:nvPicPr>
          <p:cNvPr id="17" name="Picture 16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88920"/>
            <a:ext cx="5486400" cy="3657600"/>
          </a:xfrm>
          <a:prstGeom prst="rect">
            <a:avLst/>
          </a:prstGeom>
        </p:spPr>
      </p:pic>
      <p:pic>
        <p:nvPicPr>
          <p:cNvPr id="18" name="Picture 17" descr="fig_calibration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788920"/>
            <a:ext cx="5212080" cy="3657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— Oxford EPC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SHAP-driven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Windows, construction age, and main fuel dominate by permutation importance</a:t>
            </a:r>
          </a:p>
        </p:txBody>
      </p:sp>
      <p:pic>
        <p:nvPicPr>
          <p:cNvPr id="5" name="Picture 4" descr="fig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8580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73736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E2761"/>
                </a:solidFill>
                <a:latin typeface="Calibri"/>
              </a:rPr>
              <a:t>•  Windows — single-glazed dwellings carry the largest negative SHAP contributions; multi-glazed the largest positive. Top feature by permutation importance (Δ-QWK +0.088 on shuffle).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E2761"/>
                </a:solidFill>
                <a:latin typeface="Calibri"/>
              </a:rPr>
              <a:t>•  Construction age — monotonic gradient reflecting four decades of Part L revisions (Spearman ρ 0.56 vs SAP).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E2761"/>
                </a:solidFill>
                <a:latin typeface="Calibri"/>
              </a:rPr>
              <a:t>•  Main fuel and heating type — gas / condensing-boiler dwellings score higher; heat pumps do not improve the rating because SAP is cost-based and electricity is ≈ 3× more per kWh.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E2761"/>
                </a:solidFill>
                <a:latin typeface="Calibri"/>
              </a:rPr>
              <a:t>•  Walls — solid-brick uninsulated drives negative SHAP; cavity-with-insulation positive (FLAG_SOLID_BRICK_BARE in top 10).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E2761"/>
                </a:solidFill>
                <a:latin typeface="Calibri"/>
              </a:rPr>
              <a:t>•  Permutation importance and SHAP agree on the top features → robust signal, not algorithmic artefact.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— Oxford EPC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libri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B556B"/>
                </a:solidFill>
                <a:latin typeface="Calibri"/>
              </a:rPr>
              <a:t>For Oxford City Council and registered providers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554480"/>
            <a:ext cx="640080" cy="640080"/>
          </a:xfrm>
          <a:prstGeom prst="ellipse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640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Solid-wall insulation in pre-1929 stock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Largest single physical lever; £4–14k per dwelling; SAP-engine corroborates.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514600"/>
            <a:ext cx="640080" cy="640080"/>
          </a:xfrm>
          <a:prstGeom prst="ellipse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640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56032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Loft insulation top-ups to ≥ 270 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9718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Cheapest material intervention; positive SHAP across nearly all bands.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640080" cy="640080"/>
          </a:xfrm>
          <a:prstGeom prst="ellipse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640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52044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Replace single glazing in 1900–1949 cohort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3192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Concentration of FLAG_SINGLE_GLAZED; immediate comfort benefit.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34840"/>
            <a:ext cx="640080" cy="640080"/>
          </a:xfrm>
          <a:prstGeom prst="ellipse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26280"/>
            <a:ext cx="640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48056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Communicate the heat-pump SAP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9204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SAP is cost-based; tariff differential blunts rating gain — manage expectations.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5394960"/>
            <a:ext cx="640080" cy="640080"/>
          </a:xfrm>
          <a:prstGeom prst="ellipse">
            <a:avLst/>
          </a:prstGeom>
          <a:solidFill>
            <a:srgbClr val="F9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640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4068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Calibri"/>
              </a:rPr>
              <a:t>Geographic targeting — OX1 / OX2 / OX4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5216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4B556B"/>
                </a:solidFill>
                <a:latin typeface="Calibri"/>
              </a:rPr>
              <a:t>Highest density of pre-1900 stock; district-weighted subsidies. Operational deliverable: reports/predictions_oxford.csv (76,400 per-UPRN predictions + confidence proxy).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B556B"/>
                </a:solidFill>
                <a:latin typeface="Calibri"/>
              </a:rPr>
              <a:t>COM6003 — Oxford EPC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4652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B556B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Limitations &amp;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 i="1">
                <a:solidFill>
                  <a:srgbClr val="CADCFC"/>
                </a:solidFill>
                <a:latin typeface="Calibri"/>
              </a:rPr>
              <a:t>Honest about the ceiling — not all variance is reducible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F9C177"/>
                </a:solidFill>
                <a:latin typeface="Calibri"/>
              </a:rPr>
              <a:t>Acknowledged ceilings, plus where we now 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RdSAP is modelled, not measured — assessor variance ≈ ±5 SAP points (Few et al., 2023; Hardy and Glew, 2019). Our score MAE = 4.05 is at the irreducible label-noise floor.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Lodgement-event selection bias under-represents long-tenure owner-occupied homes.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Methodology drift across SAP revisions; mitigated, not eliminated, by the temporal split.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rt_101 (SAP) cohort holdout QWK = 0.563 despite the hybrid lift — SAP-score predictions cluster near band boundaries (99.2% within 15 SAP pts).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Findings calibrated to Oxford's pre-1900-heavy stock — do not extrapolate unmodified.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Address-level fields excluded from the model per GDPR Article 5 minimisation.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