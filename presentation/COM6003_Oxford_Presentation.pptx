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0" r:id="rId21"/>
    <p:sldId id="257" r:id="rId8"/>
    <p:sldId id="258" r:id="rId9"/>
    <p:sldId id="271" r:id="rId22"/>
    <p:sldId id="272" r:id="rId23"/>
    <p:sldId id="259" r:id="rId10"/>
    <p:sldId id="260" r:id="rId11"/>
    <p:sldId id="261" r:id="rId12"/>
    <p:sldId id="262" r:id="rId13"/>
    <p:sldId id="263" r:id="rId14"/>
    <p:sldId id="269" r:id="rId20"/>
    <p:sldId id="264" r:id="rId15"/>
    <p:sldId id="265" r:id="rId16"/>
    <p:sldId id="268" r:id="rId19"/>
    <p:sldId id="266" r:id="rId17"/>
    <p:sldId id="273" r:id="rId24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6.xml"/><Relationship Id="rId18" Type="http://schemas.openxmlformats.org/officeDocument/2006/relationships/slide" Target="slides/slide18.xml"/><Relationship Id="rId19" Type="http://schemas.openxmlformats.org/officeDocument/2006/relationships/slide" Target="slides/slide15.xml"/><Relationship Id="rId20" Type="http://schemas.openxmlformats.org/officeDocument/2006/relationships/slide" Target="slides/slide12.xml"/><Relationship Id="rId21" Type="http://schemas.openxmlformats.org/officeDocument/2006/relationships/slide" Target="slides/slide2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1695" cy="54864"/>
          </a:xfrm>
          <a:prstGeom prst="rect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Predicting EPC Energy Ratings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9748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0" i="1">
                <a:solidFill>
                  <a:srgbClr val="CADCFC"/>
                </a:solidFill>
                <a:latin typeface="Calibri"/>
              </a:rPr>
              <a:t>for Oxford's domestic 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A leakage-aware ordinal-classification pipeline with SHAP-driven retrofit recommendations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COM6003  •  Buckinghamshire New University  •  2025-26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Author: Muhammad Omer Hussain (22509495)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Roadmap of the talk: from data and methods to modelling and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E2761"/>
                </a:solidFill>
                <a:latin typeface="Calibri"/>
              </a:rPr>
              <a:t>From the raw EPC register to retrofit recommendations for Oxford.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486400" cy="3840480"/>
          </a:xfrm>
          <a:prstGeom prst="roundRect">
            <a:avLst/>
          </a:prstGeom>
          <a:solidFill>
            <a:srgbClr val="F2F2F7"/>
          </a:solidFill>
          <a:ln w="15875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DATA AND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Dataset origin and background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Data limitations and biases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Feature engineering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Data wrangling pipeline (leakage-aware)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377440"/>
            <a:ext cx="5212080" cy="3840480"/>
          </a:xfrm>
          <a:prstGeom prst="roundRect">
            <a:avLst/>
          </a:prstGeom>
          <a:solidFill>
            <a:srgbClr val="F2F2F7"/>
          </a:solidFill>
          <a:ln w="15875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ANALYTICS AND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Descriptive and diagnostic analytics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Predictive modelling: setup and results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Feature importance and interpretation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Conclusion and key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Why this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EPCs are the evidence base for retrofit policy and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UK net-zero by 2050 → domestic buildings ≈ 17% of UK emissions (CCC, 2023).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EPC rating drives lender retrofit lending, MEES enforcement, ECO grant routing.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Oxford: 30.4% of dwellings built before 1900: almost double the England-wide share (ONS, 2023).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Question: which physical features drive Oxford's rating, and where should retrofit £ go first?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554480"/>
            <a:ext cx="3931920" cy="123444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000" b="1" i="0">
                <a:solidFill>
                  <a:srgbClr val="1E2761"/>
                </a:solidFill>
                <a:latin typeface="Calibri"/>
              </a:rPr>
              <a:t>17%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267712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Domestic share of UK emissions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971800"/>
            <a:ext cx="3931920" cy="123444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06324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000" b="1" i="0">
                <a:solidFill>
                  <a:srgbClr val="1E2761"/>
                </a:solidFill>
                <a:latin typeface="Calibri"/>
              </a:rPr>
              <a:t>30.4%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685032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Oxford dwellings built pre-1900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389120"/>
            <a:ext cx="3931920" cy="123444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48056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000" b="1" i="0">
                <a:solidFill>
                  <a:srgbClr val="1E2761"/>
                </a:solidFill>
                <a:latin typeface="Calibri"/>
              </a:rPr>
              <a:t>~5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5102352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SAP-point inter-assessor variance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Dataset origin and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Energy Performance of Buildings Register: Oxford (E07000178)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E2761"/>
                </a:solidFill>
                <a:latin typeface="Calibri"/>
              </a:rPr>
              <a:t>•  Source: DLUHC / MHCLG, EPB Register; OGLv3 + restricted Ordnance Survey / Royal Mail address licence.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761"/>
                </a:solidFill>
                <a:latin typeface="Calibri"/>
              </a:rPr>
              <a:t>•  Raw certificates for Oxford: 76430 rows × 93 columns.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761"/>
                </a:solidFill>
                <a:latin typeface="Calibri"/>
              </a:rPr>
              <a:t>•  After cleaning + dedup-per-UPRN: 49,442 certificates.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761"/>
                </a:solidFill>
                <a:latin typeface="Calibri"/>
              </a:rPr>
              <a:t>•  Two tables linked by LMK_KEY: certificates (one row per lodgement) + recommendations.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761"/>
                </a:solidFill>
                <a:latin typeface="Calibri"/>
              </a:rPr>
              <a:t>•  Targets: CURRENT_ENERGY_RATING (ordinal A-G, primary); CURRENT_ENERGY_EFFICIENCY (1-100, secondary).</a:t>
            </a:r>
          </a:p>
        </p:txBody>
      </p:sp>
      <p:pic>
        <p:nvPicPr>
          <p:cNvPr id="6" name="Picture 5" descr="fig_rating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448587"/>
            <a:ext cx="4846320" cy="27837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Data limitations and biases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What the EPC register can and cannot tell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EPCs are RdSAP-modelled, not measured: inter-assessor variance is about plus or minus 5 SAP points (Few et al., 2023; Hardy and Glew, 2019).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Lodgement-event selection bias: only sold, let or new-build dwellings appear, under-representing long-tenure owner-occupiers (Crawley et al., 2019).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Methodology drift: SAP 10 (2022) means certificates from different years are not strictly comparable, so we use a temporal split.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Geographic specificity: findings are calibrated to Oxford's pre-1900-heavy stock and should not be extrapolated unmodified.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Address-level fields are excluded under GDPR Article 5 data-minimisation.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554480"/>
            <a:ext cx="3931920" cy="123444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000" b="1" i="0">
                <a:solidFill>
                  <a:srgbClr val="1E2761"/>
                </a:solidFill>
                <a:latin typeface="Calibri"/>
              </a:rPr>
              <a:t>±5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267712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SAP points assessor variance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971800"/>
            <a:ext cx="3931920" cy="123444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06324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000" b="1" i="0">
                <a:solidFill>
                  <a:srgbClr val="1E2761"/>
                </a:solidFill>
                <a:latin typeface="Calibri"/>
              </a:rPr>
              <a:t>SAP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685032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2022 methodology break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389120"/>
            <a:ext cx="3931920" cy="123444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48056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000" b="1" i="0">
                <a:solidFill>
                  <a:srgbClr val="1E2761"/>
                </a:solidFill>
                <a:latin typeface="Calibri"/>
              </a:rPr>
              <a:t>OGL v3.0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5102352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open licence (address fields restricted)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Nineteen features from building physics, each with a hypothesised 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E2761"/>
                </a:solidFill>
                <a:latin typeface="Calibri"/>
              </a:rPr>
              <a:t>Domain knowledge turned into leak-free model inputs, tested in the diagnostic and predictive sections.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486400" cy="3840480"/>
          </a:xfrm>
          <a:prstGeom prst="roundRect">
            <a:avLst/>
          </a:prstGeom>
          <a:solidFill>
            <a:srgbClr val="F2F2F7"/>
          </a:solidFill>
          <a:ln w="15875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NUMERICAL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CONSTRUCTION_AGE_NUM (band midpoint year)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LOG_FLOOR_AREA, AREA_PER_ROOM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HEATED_ROOM_RATIO, LOFT_INSULATION_MM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FLOOR_LEVEL_NUM (signed storey)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INSPECTION_YEAR / QUARTER (methodology drift)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POSTCODE_DISTRICT (outward code, non-PII)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377440"/>
            <a:ext cx="5212080" cy="3840480"/>
          </a:xfrm>
          <a:prstGeom prst="roundRect">
            <a:avLst/>
          </a:prstGeom>
          <a:solidFill>
            <a:srgbClr val="F2F2F7"/>
          </a:solidFill>
          <a:ln w="15875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BOOLEAN FABRIC FLAGS (regex on descriptions)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FLAG_CAVITY_INSULATED, FLAG_SOLID_BRICK_BARE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FLAG_NO_LOFT_INSULATION, FLAG_LOFT_270MM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FLAG_GAS_BOILER, FLAG_ELECTRIC_HEATING, FLAG_HEAT_PUMP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FLAG_SINGLE_GLAZED, FLAG_TRIPLE_GLAZED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Heat-pump flag deliberately ambiguous (SAP is cost-based)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Leakage-aware, reproducible, every step a pure function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508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3258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Typed loader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4B556B"/>
                </a:solidFill>
                <a:latin typeface="Calibri"/>
              </a:rPr>
              <a:t>explicit dtypes, parsed dates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48840" y="2560320"/>
            <a:ext cx="137160" cy="182880"/>
          </a:xfrm>
          <a:prstGeom prst="rightArrow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86000" y="1828800"/>
            <a:ext cx="1508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1965960"/>
            <a:ext cx="13258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Leakage filter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606040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4B556B"/>
                </a:solidFill>
                <a:latin typeface="Calibri"/>
              </a:rPr>
              <a:t>drop SAP-engine outputs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94760" y="2560320"/>
            <a:ext cx="137160" cy="182880"/>
          </a:xfrm>
          <a:prstGeom prst="rightArrow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1828800"/>
            <a:ext cx="1508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0" y="1965960"/>
            <a:ext cx="13258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Dedup-per-UPRN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606040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4B556B"/>
                </a:solidFill>
                <a:latin typeface="Calibri"/>
              </a:rPr>
              <a:t>latest EPC per dwelling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2560320"/>
            <a:ext cx="137160" cy="182880"/>
          </a:xfrm>
          <a:prstGeom prst="rightArrow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77840" y="1828800"/>
            <a:ext cx="1508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965960"/>
            <a:ext cx="13258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Feature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2606040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4B556B"/>
                </a:solidFill>
                <a:latin typeface="Calibri"/>
              </a:rPr>
              <a:t>19 engineered features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600" y="2560320"/>
            <a:ext cx="137160" cy="182880"/>
          </a:xfrm>
          <a:prstGeom prst="rightArrow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23760" y="1828800"/>
            <a:ext cx="1508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1965960"/>
            <a:ext cx="13258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ColumnTransformer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06040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4B556B"/>
                </a:solidFill>
                <a:latin typeface="Calibri"/>
              </a:rPr>
              <a:t>fit only on train fold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732520" y="2560320"/>
            <a:ext cx="137160" cy="182880"/>
          </a:xfrm>
          <a:prstGeom prst="rightArrow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69680" y="1828800"/>
            <a:ext cx="1508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0" y="1965960"/>
            <a:ext cx="13258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HistGB regression-to-band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2606040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4B556B"/>
                </a:solidFill>
                <a:latin typeface="Calibri"/>
              </a:rPr>
              <a:t>with SAP-cohort routing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0378440" y="2560320"/>
            <a:ext cx="137160" cy="182880"/>
          </a:xfrm>
          <a:prstGeom prst="rightArrow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515600" y="1828800"/>
            <a:ext cx="1508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0" y="1965960"/>
            <a:ext cx="13258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SHAP + calibration + fairness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2606040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4B556B"/>
                </a:solidFill>
                <a:latin typeface="Calibri"/>
              </a:rPr>
              <a:t>audit every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 i="1">
                <a:solidFill>
                  <a:srgbClr val="1E2761"/>
                </a:solidFill>
                <a:latin typeface="Calibri"/>
              </a:rPr>
              <a:t>Train ≤ 2022-12-31  →  Hold-out ≥ 2023-01-01  (temporal split)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The single biggest pitfall: and how we avoided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Leakage audit on the SAP-derivative columns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E2761"/>
                </a:solidFill>
                <a:latin typeface="Calibri"/>
              </a:rPr>
              <a:t>•  The target is *derived* from the SAP/RdSAP calculation: many columns in the CSV are *outputs* of the same engine.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486400" cy="3840480"/>
          </a:xfrm>
          <a:prstGeom prst="roundRect">
            <a:avLst/>
          </a:prstGeom>
          <a:solidFill>
            <a:srgbClr val="FDEBEB"/>
          </a:solidFill>
          <a:ln>
            <a:solidFill>
              <a:srgbClr val="C25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2503A"/>
                </a:solidFill>
                <a:latin typeface="Calibri"/>
              </a:rPr>
              <a:t>DROPPED: would leak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POTENTIAL_ENERGY_RATING / EFFICIENCY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ENVIRONMENTAL_IMPACT_*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ENERGY_CONSUMPTION_*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CO2_EMISSIONS_*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LIGHTING_COST_*, HEATING_COST_*, HOT_WATER_COST_*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Per-element *_ENERGY_EFF stars (kept for diagnostics, not features)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377440"/>
            <a:ext cx="5212080" cy="3840480"/>
          </a:xfrm>
          <a:prstGeom prst="roundRect">
            <a:avLst/>
          </a:prstGeom>
          <a:solidFill>
            <a:srgbClr val="ECF6EE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2C5F2D"/>
                </a:solidFill>
                <a:latin typeface="Calibri"/>
              </a:rPr>
              <a:t>KEPT: physical reality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PROPERTY_TYPE, BUILT_FORM, CONSTRUCTION_AGE_BAND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WALLS_DESCRIPTION, ROOF_DESCRIPTION, WINDOWS_DESCRIPTION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MAIN_FUEL, MAIN_HEATING_CONTROLS, MAINS_GAS_FLAG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TOTAL_FLOOR_AREA, NUMBER_HABITABLE_ROOMS, …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Engineered: FLAG_CAVITY_INSULATED, FLAG_LOFT_300MM, …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Dedup-per-UPRN: same dwelling never crosses the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EDA: 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Class imbalance and a clear age-band gradient</a:t>
            </a:r>
          </a:p>
        </p:txBody>
      </p:sp>
      <p:pic>
        <p:nvPicPr>
          <p:cNvPr id="5" name="Picture 4" descr="fig_temporal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996"/>
            <a:ext cx="5577840" cy="2467847"/>
          </a:xfrm>
          <a:prstGeom prst="rect">
            <a:avLst/>
          </a:prstGeom>
        </p:spPr>
      </p:pic>
      <p:pic>
        <p:nvPicPr>
          <p:cNvPr id="6" name="Picture 5" descr="fig_property_built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626" y="4114800"/>
            <a:ext cx="4861867" cy="2286000"/>
          </a:xfrm>
          <a:prstGeom prst="rect">
            <a:avLst/>
          </a:prstGeom>
        </p:spPr>
      </p:pic>
      <p:pic>
        <p:nvPicPr>
          <p:cNvPr id="7" name="Picture 6" descr="fig_rating_by_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582745"/>
            <a:ext cx="5394960" cy="27897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Diagnostic analytics: why ratings vary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Correlation heatmap and association statistics: walls and age dominate</a:t>
            </a:r>
          </a:p>
        </p:txBody>
      </p:sp>
      <p:pic>
        <p:nvPicPr>
          <p:cNvPr id="5" name="Picture 4" descr="fig_eff_by_wal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923" y="2310917"/>
            <a:ext cx="4003433" cy="33334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463040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Test statistics (hold-out)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9659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Spearman ρ: age vs SAP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196596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1E2761"/>
                </a:solidFill>
                <a:latin typeface="Calibri"/>
              </a:rPr>
              <a:t>0.618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51460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Spearman ρ: multi-glaze vs SAP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251460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1E2761"/>
                </a:solidFill>
                <a:latin typeface="Calibri"/>
              </a:rPr>
              <a:t>0.209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06324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Cramér's V: walls vs rating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306324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1E2761"/>
                </a:solidFill>
                <a:latin typeface="Calibri"/>
              </a:rPr>
              <a:t>0.407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61188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Cramér's V: main fuel vs rating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361188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1E2761"/>
                </a:solidFill>
                <a:latin typeface="Calibri"/>
              </a:rPr>
              <a:t>0.318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1605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Cramér's V: age band vs rating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416052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1E2761"/>
                </a:solidFill>
                <a:latin typeface="Calibri"/>
              </a:rPr>
              <a:t>0.366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091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Cramér's V: built form vs rating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470916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1E2761"/>
                </a:solidFill>
                <a:latin typeface="Calibri"/>
              </a:rPr>
              <a:t>0.091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Quadratic Weighted Kappa: 5-fold GroupKFold (no UPRN leakage)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6459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400" b="1" i="0">
                <a:solidFill>
                  <a:srgbClr val="1E2761"/>
                </a:solidFill>
                <a:latin typeface="Calibri"/>
              </a:rPr>
              <a:t>QWK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164592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± std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109728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1E2761"/>
                </a:solidFill>
                <a:latin typeface="Calibri"/>
              </a:rPr>
              <a:t>Logistic regression (full)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24028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400" b="0" i="0">
                <a:solidFill>
                  <a:srgbClr val="1E2761"/>
                </a:solidFill>
                <a:latin typeface="Calibri"/>
              </a:rPr>
              <a:t>0.40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24028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1E2761"/>
                </a:solidFill>
                <a:latin typeface="Calibri"/>
              </a:rPr>
              <a:t>Random Forest (group split)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7432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400" b="0" i="0">
                <a:solidFill>
                  <a:srgbClr val="1E2761"/>
                </a:solidFill>
                <a:latin typeface="Calibri"/>
              </a:rPr>
              <a:t>0.840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74320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± 0.003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461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1E2761"/>
                </a:solidFill>
                <a:latin typeface="Calibri"/>
              </a:rPr>
              <a:t>HistGB classifier (group)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2461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400" b="0" i="0">
                <a:solidFill>
                  <a:srgbClr val="1E2761"/>
                </a:solidFill>
                <a:latin typeface="Calibri"/>
              </a:rPr>
              <a:t>0.840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324612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± 0.002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74904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LightGBM + expected-value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7490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400" b="1" i="0">
                <a:solidFill>
                  <a:srgbClr val="1E2761"/>
                </a:solidFill>
                <a:latin typeface="Calibri"/>
              </a:rPr>
              <a:t>0.867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374904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± 0.005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519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1E2761"/>
                </a:solidFill>
                <a:latin typeface="Calibri"/>
              </a:rPr>
              <a:t>Regression-to-band (champion)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2519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400" b="0" i="0">
                <a:solidFill>
                  <a:srgbClr val="1E2761"/>
                </a:solidFill>
                <a:latin typeface="Calibri"/>
              </a:rPr>
              <a:t>0.863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425196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5488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1E2761"/>
                </a:solidFill>
                <a:latin typeface="Calibri"/>
              </a:rPr>
              <a:t>Ensemble (RF+HGB+LGBM mean proba)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75488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400" b="0" i="0">
                <a:solidFill>
                  <a:srgbClr val="1E2761"/>
                </a:solidFill>
                <a:latin typeface="Calibri"/>
              </a:rPr>
              <a:t>0.860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475488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How the champion turns features into a 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Regression-to-band with SAP-cohort routing</a:t>
            </a:r>
          </a:p>
        </p:txBody>
      </p:sp>
      <p:pic>
        <p:nvPicPr>
          <p:cNvPr id="5" name="Picture 4" descr="fig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10881360" cy="36685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i="1">
                <a:solidFill>
                  <a:srgbClr val="5B6472"/>
                </a:solidFill>
                <a:latin typeface="Calibri"/>
              </a:rPr>
              <a:t>EPC bands are a deterministic discretisation of the SAP score, so predicting the score and then thresholding is statistically consistent (Pedregosa et al., 2017) and supports counterfactual retrofit queries a discrete classifier cannot express.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Champion: SapStratifiedRegressor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Regression on SAP score + SAP-cohort specialist; evaluated once on inspections from 2023+. Multi-seed: 0.7714 ± 0.0019 across seeds 42/123/2026.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606040" cy="109728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27632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0.7696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B556B"/>
                </a:solidFill>
                <a:latin typeface="Calibri"/>
              </a:rPr>
              <a:t>Quadratic Weighted Kappa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554480"/>
            <a:ext cx="2606040" cy="109728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627632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0.584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19456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B556B"/>
                </a:solidFill>
                <a:latin typeface="Calibri"/>
              </a:rPr>
              <a:t>Balanced 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2606040" cy="109728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27632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0.550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B556B"/>
                </a:solidFill>
                <a:latin typeface="Calibri"/>
              </a:rPr>
              <a:t>Macro-F1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39" y="1554480"/>
            <a:ext cx="2606040" cy="109728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79" y="1627632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4.05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79" y="219456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B556B"/>
                </a:solidFill>
                <a:latin typeface="Calibri"/>
              </a:rPr>
              <a:t>SAP MAE (vs ~5-pt assessor noise floor) | 97.7% within 15 SAP pts (ONS DSC national: 93%)</a:t>
            </a:r>
          </a:p>
        </p:txBody>
      </p:sp>
      <p:pic>
        <p:nvPicPr>
          <p:cNvPr id="17" name="Picture 16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833" y="2788920"/>
            <a:ext cx="4118894" cy="3657600"/>
          </a:xfrm>
          <a:prstGeom prst="rect">
            <a:avLst/>
          </a:prstGeom>
        </p:spPr>
      </p:pic>
      <p:pic>
        <p:nvPicPr>
          <p:cNvPr id="18" name="Picture 17" descr="fig_calibration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122" y="2788920"/>
            <a:ext cx="4257435" cy="3657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What drives the rating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Windows, construction age and main fuel dominate by permutation importance</a:t>
            </a:r>
          </a:p>
        </p:txBody>
      </p:sp>
      <p:pic>
        <p:nvPicPr>
          <p:cNvPr id="5" name="Picture 4" descr="fig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278" y="2344288"/>
            <a:ext cx="5188723" cy="32667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737360"/>
            <a:ext cx="4206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E2761"/>
                </a:solidFill>
                <a:latin typeface="Calibri"/>
              </a:rPr>
              <a:t>•  Windows: single-glazed dwellings carry the largest negative SHAP contributions; multi-glazed the largest positive. Top feature by permutation importance (Δ-QWK +0.071 on shuffle).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E2761"/>
                </a:solidFill>
                <a:latin typeface="Calibri"/>
              </a:rPr>
              <a:t>•  Construction age: monotonic gradient reflecting four decades of Part L revisions (Spearman ρ 0.62 vs SAP).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E2761"/>
                </a:solidFill>
                <a:latin typeface="Calibri"/>
              </a:rPr>
              <a:t>•  Main fuel and heating type: gas / condensing-boiler dwellings score higher; heat pumps do not improve the rating because SAP is cost-based and electricity is ≈ 3× more per kWh.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E2761"/>
                </a:solidFill>
                <a:latin typeface="Calibri"/>
              </a:rPr>
              <a:t>•  Walls: solid-brick uninsulated drives negative SHAP; cavity-with-insulation positive (FLAG_SOLID_BRICK_BARE in top 10).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E2761"/>
                </a:solidFill>
                <a:latin typeface="Calibri"/>
              </a:rPr>
              <a:t>•  Permutation importance and SHAP agree on the top features → robust signal, not algorithmic artefact.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Unsupervised segmentation and retrofit recommender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Three fabric archetypes (K-Prototypes, k = 3) and an Apriori + content-based k-NN recommender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606040" cy="109728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27632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k =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B556B"/>
                </a:solidFill>
                <a:latin typeface="Calibri"/>
              </a:rPr>
              <a:t>K-Prototypes segments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554480"/>
            <a:ext cx="2606040" cy="109728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627632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0.24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19456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B556B"/>
                </a:solidFill>
                <a:latin typeface="Calibri"/>
              </a:rPr>
              <a:t>Gower silhouette (soft archetypes)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2606040" cy="109728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27632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8.9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B556B"/>
                </a:solidFill>
                <a:latin typeface="Calibri"/>
              </a:rPr>
              <a:t>Top Apriori rule lift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39" y="1554480"/>
            <a:ext cx="2606040" cy="109728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79" y="1627632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0.97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79" y="219456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B556B"/>
                </a:solidFill>
                <a:latin typeface="Calibri"/>
              </a:rPr>
              <a:t>Recommender hit-rate (precision@5 +0.08 vs popularity)</a:t>
            </a:r>
          </a:p>
        </p:txBody>
      </p:sp>
      <p:pic>
        <p:nvPicPr>
          <p:cNvPr id="17" name="Picture 16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833" y="3789991"/>
            <a:ext cx="4118894" cy="1655458"/>
          </a:xfrm>
          <a:prstGeom prst="rect">
            <a:avLst/>
          </a:prstGeom>
        </p:spPr>
      </p:pic>
      <p:pic>
        <p:nvPicPr>
          <p:cNvPr id="18" name="Picture 17" descr="fig_calibration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122" y="3850690"/>
            <a:ext cx="4257435" cy="15340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For Oxford City Council and registered providers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554480"/>
            <a:ext cx="640080" cy="640080"/>
          </a:xfrm>
          <a:prstGeom prst="ellipse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640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02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Solid-wall insulation in pre-1929 stock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Largest single physical lever; £4-14k per dwelling; SAP-engine corroborates.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514600"/>
            <a:ext cx="640080" cy="640080"/>
          </a:xfrm>
          <a:prstGeom prst="ellipse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640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56032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Loft insulation top-ups to ≥ 270 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97180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Cheapest material intervention; positive SHAP across nearly all bands.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640080" cy="640080"/>
          </a:xfrm>
          <a:prstGeom prst="ellipse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640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Calibri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52044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Replace single glazing in 1900-1949 cohort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3192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Concentration of FLAG_SINGLE_GLAZED; immediate comfort benefit.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34840"/>
            <a:ext cx="640080" cy="640080"/>
          </a:xfrm>
          <a:prstGeom prst="ellipse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26280"/>
            <a:ext cx="640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Calibri"/>
              </a:rPr>
              <a:t>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48056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Communicate the heat-pump SAP caveat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89204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SAP is cost-based; tariff differential blunts rating gain: manage expectations.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5394960"/>
            <a:ext cx="640080" cy="640080"/>
          </a:xfrm>
          <a:prstGeom prst="ellipse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640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Calibri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4068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Geographic targeting: OX1 / OX2 / OX4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85216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Highest density of pre-1900 stock; district-weighted subsidies. Operational deliverable: reports/predictions_oxford.csv (76,400 per-UPRN predictions + confidence proxy).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Conclusion and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A leakage-controlled, interpretable EPC predictor for retrofit targeting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EPC band is predictable from physical fabric alone: QWK 0.7696 on a strict temporal hold-out, leakage-controlled.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Windows, construction age and main fuel are the dominant levers; wall construction is the largest categorical driver.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Predictions are honest about uncertainty (score MAE 4.05, at the assessor-noise floor) and carry a confidence proxy.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Output is operational: a 76,400-row per-UPRN file for ECO4, MEES and geographic targeting.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Fully reproducible: 95 automated checks (25 data + 70 model) all pass.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554480"/>
            <a:ext cx="3931920" cy="123444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000" b="1" i="0">
                <a:solidFill>
                  <a:srgbClr val="1E2761"/>
                </a:solidFill>
                <a:latin typeface="Calibri"/>
              </a:rPr>
              <a:t>0.7696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267712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Quadratic Weighted Kappa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971800"/>
            <a:ext cx="3931920" cy="123444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06324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000" b="1" i="0">
                <a:solidFill>
                  <a:srgbClr val="1E2761"/>
                </a:solidFill>
                <a:latin typeface="Calibri"/>
              </a:rPr>
              <a:t>97.7%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685032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within 15 SAP points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389120"/>
            <a:ext cx="3931920" cy="123444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48056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000" b="1" i="0">
                <a:solidFill>
                  <a:srgbClr val="1E2761"/>
                </a:solidFill>
                <a:latin typeface="Calibri"/>
              </a:rPr>
              <a:t>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5102352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automated checks 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• Oxford EPC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Limitations &amp;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 i="1">
                <a:solidFill>
                  <a:srgbClr val="CADCFC"/>
                </a:solidFill>
                <a:latin typeface="Calibri"/>
              </a:rPr>
              <a:t>Honest about the ceiling: not all variance is reducible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9C177"/>
                </a:solidFill>
                <a:latin typeface="Calibri"/>
              </a:rPr>
              <a:t>Model ceiling and ethical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•  Score MAE = 4.05 sits at the irreducible assessor-noise floor (about 5 SAP points), so the model is near the achievable ceiling rather than under-fitting.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•  Sparse A, F and G bands carry wide confidence intervals; the reliability curve shows mild compression (slope 0.79), correctable by isotonic regression.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•  SAP-only cohort (REPORT_TYPE 101) hold-out QWK = 0.578 despite the hybrid lift: its predictions cluster near band boundaries (98.8% within 15 SAP points).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•  Not for individual valuation, mortgage underwriting, or automated decisions with legal effect (GDPR Article 22).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